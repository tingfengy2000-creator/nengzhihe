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905a0adaa14e73" /><Relationship Type="http://schemas.openxmlformats.org/officeDocument/2006/relationships/extended-properties" Target="/docProps/app.xml" Id="Ra021ccb0cf4a413d" /><Relationship Type="http://schemas.openxmlformats.org/officeDocument/2006/relationships/officeDocument" Target="/ppt/presentation.xml" Id="R3cb2719bab1040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16f08a27b94391"/>
  </p:sldMasterIdLst>
  <p:notesMasterIdLst>
    <p:notesMasterId xmlns:r="http://schemas.openxmlformats.org/officeDocument/2006/relationships" r:id="Rf0113a8120df4fbd"/>
  </p:notesMasterIdLst>
  <p:sldIdLst>
    <p:sldId xmlns:r="http://schemas.openxmlformats.org/officeDocument/2006/relationships" id="256" r:id="R8738b589b7804e33"/>
    <p:sldId xmlns:r="http://schemas.openxmlformats.org/officeDocument/2006/relationships" id="257" r:id="R46b64e03199c472e"/>
    <p:sldId xmlns:r="http://schemas.openxmlformats.org/officeDocument/2006/relationships" id="258" r:id="R50668daa4d7a4016"/>
    <p:sldId xmlns:r="http://schemas.openxmlformats.org/officeDocument/2006/relationships" id="259" r:id="R085dfbfe1b224dfc"/>
    <p:sldId xmlns:r="http://schemas.openxmlformats.org/officeDocument/2006/relationships" id="260" r:id="R7e86211b942c4752"/>
    <p:sldId xmlns:r="http://schemas.openxmlformats.org/officeDocument/2006/relationships" id="261" r:id="Rf5a2e9d7b7674dae"/>
    <p:sldId xmlns:r="http://schemas.openxmlformats.org/officeDocument/2006/relationships" id="262" r:id="R378fec7930df4658"/>
    <p:sldId xmlns:r="http://schemas.openxmlformats.org/officeDocument/2006/relationships" id="263" r:id="R08031b10681f4f0c"/>
    <p:sldId xmlns:r="http://schemas.openxmlformats.org/officeDocument/2006/relationships" id="264" r:id="R5ed70032a5cc4f91"/>
    <p:sldId xmlns:r="http://schemas.openxmlformats.org/officeDocument/2006/relationships" id="265" r:id="R1edf65d9a16c42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4f8291ae934f72" /><Relationship Type="http://schemas.openxmlformats.org/officeDocument/2006/relationships/slideMaster" Target="/ppt/slideMasters/slideMaster1.xml" Id="R5616f08a27b94391" /><Relationship Type="http://schemas.openxmlformats.org/officeDocument/2006/relationships/notesMaster" Target="/ppt/notesMasters/notesMaster1.xml" Id="Rf0113a8120df4fbd" /><Relationship Type="http://schemas.openxmlformats.org/officeDocument/2006/relationships/presProps" Target="/ppt/presProps.xml" Id="Rca79f2cd9ec148c7" /><Relationship Type="http://schemas.openxmlformats.org/officeDocument/2006/relationships/tableStyles" Target="/ppt/tableStyles.xml" Id="R923c4afe0df74db1" /><Relationship Type="http://schemas.openxmlformats.org/officeDocument/2006/relationships/slide" Target="/ppt/slides/slide1.xml" Id="R8738b589b7804e33" /><Relationship Type="http://schemas.openxmlformats.org/officeDocument/2006/relationships/slide" Target="/ppt/slides/slide2.xml" Id="R46b64e03199c472e" /><Relationship Type="http://schemas.openxmlformats.org/officeDocument/2006/relationships/slide" Target="/ppt/slides/slide3.xml" Id="R50668daa4d7a4016" /><Relationship Type="http://schemas.openxmlformats.org/officeDocument/2006/relationships/slide" Target="/ppt/slides/slide4.xml" Id="R085dfbfe1b224dfc" /><Relationship Type="http://schemas.openxmlformats.org/officeDocument/2006/relationships/slide" Target="/ppt/slides/slide5.xml" Id="R7e86211b942c4752" /><Relationship Type="http://schemas.openxmlformats.org/officeDocument/2006/relationships/slide" Target="/ppt/slides/slide6.xml" Id="Rf5a2e9d7b7674dae" /><Relationship Type="http://schemas.openxmlformats.org/officeDocument/2006/relationships/slide" Target="/ppt/slides/slide7.xml" Id="R378fec7930df4658" /><Relationship Type="http://schemas.openxmlformats.org/officeDocument/2006/relationships/slide" Target="/ppt/slides/slide8.xml" Id="R08031b10681f4f0c" /><Relationship Type="http://schemas.openxmlformats.org/officeDocument/2006/relationships/slide" Target="/ppt/slides/slide9.xml" Id="R5ed70032a5cc4f91" /><Relationship Type="http://schemas.openxmlformats.org/officeDocument/2006/relationships/slide" Target="/ppt/slides/slide10.xml" Id="R1edf65d9a16c42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2380ade0874c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2f47d8d9d347d8" /><Relationship Type="http://schemas.openxmlformats.org/officeDocument/2006/relationships/notesMaster" Target="/ppt/notesMasters/notesMaster1.xml" Id="R098db15ad70c4c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314ecd335b4b8b" /><Relationship Type="http://schemas.openxmlformats.org/officeDocument/2006/relationships/notesMaster" Target="/ppt/notesMasters/notesMaster1.xml" Id="R29b242d4ca5a40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6208b69a7245dd" /><Relationship Type="http://schemas.openxmlformats.org/officeDocument/2006/relationships/notesMaster" Target="/ppt/notesMasters/notesMaster1.xml" Id="Ra5c22be80c4143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6800baeaea4020" /><Relationship Type="http://schemas.openxmlformats.org/officeDocument/2006/relationships/notesMaster" Target="/ppt/notesMasters/notesMaster1.xml" Id="Re7e2da6af0094c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b31f618ca34767" /><Relationship Type="http://schemas.openxmlformats.org/officeDocument/2006/relationships/notesMaster" Target="/ppt/notesMasters/notesMaster1.xml" Id="Rce526e0243c245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7b64675077415a" /><Relationship Type="http://schemas.openxmlformats.org/officeDocument/2006/relationships/notesMaster" Target="/ppt/notesMasters/notesMaster1.xml" Id="R52ad4ac86ed840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cabdce2e644e4a" /><Relationship Type="http://schemas.openxmlformats.org/officeDocument/2006/relationships/notesMaster" Target="/ppt/notesMasters/notesMaster1.xml" Id="R90861f6ac73d45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b86dc78c154a2a" /><Relationship Type="http://schemas.openxmlformats.org/officeDocument/2006/relationships/notesMaster" Target="/ppt/notesMasters/notesMaster1.xml" Id="R08c09b24b69a44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f4e20df8ec4fa3" /><Relationship Type="http://schemas.openxmlformats.org/officeDocument/2006/relationships/notesMaster" Target="/ppt/notesMasters/notesMaster1.xml" Id="R93f0d47a040941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092e9aeba342eb" /><Relationship Type="http://schemas.openxmlformats.org/officeDocument/2006/relationships/notesMaster" Target="/ppt/notesMasters/notesMaster1.xml" Id="R1f64c9e4ffa44c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本作品聚焦告警之后的一项实际任务：核对风阀疑点并交接下一步动作。当前是公开数据原型，没有真实部署或人工提效结论。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依据：round4/server.py、importer.py、quality.py、diagnostics.py、reporter.py。对象为公共建筑运维人员及能源服务团队，需求价值仍须真人验证。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实机图：output/ui/csv_mapping.png。原始片段2018-04-10，1440行31列。17允许点位；错误间隔拒绝；完整1分钟桶聚合为5分钟。该日期是开发演示，不是新性能样本。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实机图：output/ui/dual_dimensions.png。12条完全重复记录被删除后，数据质量通过，风阀候选仍存在。server与reporter共同使用规范化质量对象；followup同步UI和卡片的补证顺序。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依据：diagnostics.py与quality.py冻结源码；LBNL SDAHU官方说明2022：NISTIR 6994 APAR + FLEXLAB SZVAV物理实验。OA_DMPR_DM为控制指令，实际位置字段不作诊断输入。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来源：round5/results/external_metrics.json、protocol/apar_adaptation.md。FLEXLAB SZVAV 是一套 AHU 的 11 个整日物理实验；5 日开发，6 日整日留出。标签只在引擎外加入评分。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同一参数、点位、正常校准和整日留出；差异只在预先声明的混合风路一致性核验。FLEXLAB 没有设计最小室外风量点，APAR 规则2/18禁用。工作流保留控制指令与实际阀位的边界。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tudy/private/protocol.json、rubric.json、answer_key_draft.json、task_manifest.json。计划5–10人，实际0人。8任务来自2开发日期×4设置，匹配但不重复；4顺序交叉平衡。参考答案独立复核和难度匹配检查尚未完成，软件演练不算真人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软件检查：output/reliability_tests.json 29项、standalone_tests.json 13项、study_software_checks.json 21项。软件检查通过不证明实际使用提效。商业模式为待检验的同类设备本地工具与接入服务假设，没有试点、合作、收入。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评审入口delivery/review/index.html；三分钟视频video/final；10页答辩PPTX/PDF；3份官方结构DOCX及PDF；study README与主持人独立复核包。下一步为参考答案独立复核与真实人员招募，不以更多回归次数替代价值证据。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f7b8f42a444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67d5794aaf41af" /><Relationship Type="http://schemas.openxmlformats.org/officeDocument/2006/relationships/slideLayout" Target="/ppt/slideLayouts/slideLayout1.xml" Id="Rf82a0c2b2a3b4a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2a0c2b2a3b4a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2cfdc616a40c1" /><Relationship Type="http://schemas.openxmlformats.org/officeDocument/2006/relationships/notesSlide" Target="/ppt/notesSlides/notesSlide1.xml" Id="R7539142aceee48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2ba1f50bd4c05" /><Relationship Type="http://schemas.openxmlformats.org/officeDocument/2006/relationships/notesSlide" Target="/ppt/notesSlides/notesSlide2.xml" Id="Rafda125511584e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5840f5a8d4c56" /><Relationship Type="http://schemas.openxmlformats.org/officeDocument/2006/relationships/image" Target="/ppt/media/image.png" Id="R7c0e647a162f49a4" /><Relationship Type="http://schemas.openxmlformats.org/officeDocument/2006/relationships/notesSlide" Target="/ppt/notesSlides/notesSlide3.xml" Id="R3d28f78dbede46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2ce45d96e4816" /><Relationship Type="http://schemas.openxmlformats.org/officeDocument/2006/relationships/image" Target="/ppt/media/image2.png" Id="Rcd8dc37dbb4b49c1" /><Relationship Type="http://schemas.openxmlformats.org/officeDocument/2006/relationships/notesSlide" Target="/ppt/notesSlides/notesSlide4.xml" Id="R8003acd2769d48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9d711e5294cb9" /><Relationship Type="http://schemas.openxmlformats.org/officeDocument/2006/relationships/notesSlide" Target="/ppt/notesSlides/notesSlide5.xml" Id="Rb8410f3470d54d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5847b04994d4e" /><Relationship Type="http://schemas.openxmlformats.org/officeDocument/2006/relationships/notesSlide" Target="/ppt/notesSlides/notesSlide6.xml" Id="R5a23d1435dcb43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1cd37683c4acb" /><Relationship Type="http://schemas.openxmlformats.org/officeDocument/2006/relationships/notesSlide" Target="/ppt/notesSlides/notesSlide7.xml" Id="Rc7ca2d8a73e64f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22304f6be4552" /><Relationship Type="http://schemas.openxmlformats.org/officeDocument/2006/relationships/image" Target="/ppt/media/image3.png" Id="R9f6a256c3a904683" /><Relationship Type="http://schemas.openxmlformats.org/officeDocument/2006/relationships/notesSlide" Target="/ppt/notesSlides/notesSlide8.xml" Id="Re0cb6d3d9e6d4b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9efba694145ce" /><Relationship Type="http://schemas.openxmlformats.org/officeDocument/2006/relationships/notesSlide" Target="/ppt/notesSlides/notesSlide9.xml" Id="R6e969b36223041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3c49ea89b47db" /><Relationship Type="http://schemas.openxmlformats.org/officeDocument/2006/relationships/image" Target="/ppt/media/image4.png" Id="R29d0f02e0747472b" /><Relationship Type="http://schemas.openxmlformats.org/officeDocument/2006/relationships/notesSlide" Target="/ppt/notesSlides/notesSlide10.xml" Id="R337c0f9bba384c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D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84750-2FD2-4263-9276-BB7B838F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0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能智核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A3A94-E4D0-40B1-8847-6B873B3C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4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4F0E8"/>
                </a:solidFill>
                <a:latin typeface="Microsoft YaHei"/>
                <a:ea typeface="Microsoft YaHei"/>
                <a:cs typeface="Microsoft YaHei"/>
              </a:rPr>
              <a:t>公共建筑风阀疑点核验</a:t>
            </a:r>
          </a:p>
          <a:p xmlns:a="http://schemas.openxmlformats.org/drawingml/2006/main">
            <a:pPr>
              <a:defRPr sz="3600" b="1">
                <a:solidFill>
                  <a:srgbClr val="E4F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4F0E8"/>
                </a:solidFill>
                <a:latin typeface="Microsoft YaHei"/>
                <a:ea typeface="Microsoft YaHei"/>
                <a:cs typeface="Microsoft YaHei"/>
              </a:rPr>
              <a:t>与补证工作台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62EE2-BAA2-44FE-BD82-293B5FE6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D7E7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D7E7BF"/>
                </a:solidFill>
                <a:latin typeface="Microsoft YaHei"/>
                <a:ea typeface="Microsoft YaHei"/>
                <a:cs typeface="Microsoft YaHei"/>
              </a:rPr>
              <a:t>告警之后，先查什么？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9DC6E-A179-438C-883B-6B1BB5A9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5E2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5E2DD"/>
                </a:solidFill>
                <a:latin typeface="Microsoft YaHei"/>
                <a:ea typeface="Microsoft YaHei"/>
                <a:cs typeface="Microsoft YaHei"/>
              </a:rPr>
              <a:t>智慧能源与环境 · 公开数据原型</a:t>
            </a:r>
          </a:p>
        </p:txBody>
      </p:sp>
    </p:spTree>
    <p:extLst>
      <p:ext uri="{BB962C8B-B14F-4D97-AF65-F5344CB8AC3E}">
        <p14:creationId xmlns:p14="http://schemas.microsoft.com/office/powerpoint/2010/main" val="14804251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714D0-774E-4363-BE97-75B4B306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01 / 用户任务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333D1-CCF5-4AFA-819A-64B1E541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把一条告警，变成一次有依据的核查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73D30-4192-4454-A1AA-457A92A4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专业规则对照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EAD79-7908-45D9-9E94-B811363B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42785-7B48-4A9C-86C7-8A17F431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使用者需要回答三个问题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4A166-D3B7-40A3-B68A-E3F2AB59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9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01  数据可信吗？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3B6DC-59C9-4831-9481-480EB51E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339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02  当前能检验吗？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263E5-1270-47C1-ACB8-9425298F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39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03  接下来补什么？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CB449-F33B-415A-8BAD-A6D68487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3528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核对单位与真实时间间隔</a:t>
            </a:r>
          </a:p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保留重复、缺失和冲突证据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941FE-7DE2-48F2-9AC9-CA67387E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33528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查看启停、温差和连续窗口</a:t>
            </a:r>
          </a:p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工况不足时保留未决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A625C-9591-47E0-BC08-5000E251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3528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写明点位、时段和现场动作</a:t>
            </a:r>
          </a:p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让下一位人员能接着核查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8525B-4808-461A-BBA8-70EFE6C2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一份运行 CSV → 一张可阅读、可追溯的核查卡</a:t>
            </a:r>
          </a:p>
        </p:txBody>
      </p:sp>
    </p:spTree>
    <p:extLst>
      <p:ext uri="{BB962C8B-B14F-4D97-AF65-F5344CB8AC3E}">
        <p14:creationId xmlns:p14="http://schemas.microsoft.com/office/powerpoint/2010/main" val="875920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EA035-04EC-4F1B-A6FD-6095E88F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02 / 导入与映射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A86E4-93EE-4E66-A5DB-AC412C4B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从公开原始 CSV 开始，完成真实操作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AA717-5C3E-4283-AF87-1E742113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专业规则对照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C830F-5743-4597-BAAC-72F26D0B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25A1A-4E4D-4CF7-BA09-251D42A6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1440 → 288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2D928-AB39-44ED-BC32-5F4DD20C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335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原始观测 → 五分钟记录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F3B9E-5351-4E38-A78D-39C76B81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319087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确认字段、单位、时间间隔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错误声明明确拒绝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缺失保留，不补零或插值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e647a162f49a4"/>
          <a:srcRect xmlns:a="http://schemas.openxmlformats.org/drawingml/2006/main" l="18500" t="37800" r="2500" b="1200"/>
          <a:stretch xmlns:a="http://schemas.openxmlformats.org/drawingml/2006/main"/>
        </p:blipFill>
        <p:spPr>
          <a:xfrm xmlns:a="http://schemas.openxmlformats.org/drawingml/2006/main">
            <a:off x="4124325" y="1543050"/>
            <a:ext cx="7477125" cy="4362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8C7B4-576C-4F6B-8ACF-EDB9942D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81700"/>
            <a:ext cx="7362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接入仅限已验证的 LBNL 单风道机组仿真配置</a:t>
            </a:r>
          </a:p>
        </p:txBody>
      </p:sp>
    </p:spTree>
    <p:extLst>
      <p:ext uri="{BB962C8B-B14F-4D97-AF65-F5344CB8AC3E}">
        <p14:creationId xmlns:p14="http://schemas.microsoft.com/office/powerpoint/2010/main" val="662211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B2CED-A25D-4D1A-BC50-606F7D61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03 / 两个独立维度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C21D4-AA66-4DBF-AC46-245340E6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数据修好了，设备疑点仍需继续核查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1D104-89A7-4E74-A061-F04B0847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专业规则对照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8274F-62DC-4CC5-ABDB-3305551E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BA92E-CFC6-4EA8-A61D-67C39228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300 → 288 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1621F-091F-4DBC-A497-A00F7945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去掉 12 条完全重复记录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906F8-4C57-4832-878F-F6D89B8F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34290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数据质量：记录检查通过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设备判断：风阀疑点保留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补证动作：测点与执行器复核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dc37dbb4b49c1"/>
          <a:srcRect xmlns:a="http://schemas.openxmlformats.org/drawingml/2006/main" l="18300" t="33300" r="3500" b="7200"/>
          <a:stretch xmlns:a="http://schemas.openxmlformats.org/drawingml/2006/main"/>
        </p:blipFill>
        <p:spPr>
          <a:xfrm xmlns:a="http://schemas.openxmlformats.org/drawingml/2006/main">
            <a:off x="4248150" y="1590675"/>
            <a:ext cx="7324725" cy="4171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2F4FB-83D4-49AB-AD94-F38E2C36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981700"/>
            <a:ext cx="731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修正、修改证据后真实重算；移除风路证据会退回未决</a:t>
            </a:r>
          </a:p>
        </p:txBody>
      </p:sp>
    </p:spTree>
    <p:extLst>
      <p:ext uri="{BB962C8B-B14F-4D97-AF65-F5344CB8AC3E}">
        <p14:creationId xmlns:p14="http://schemas.microsoft.com/office/powerpoint/2010/main" val="1001626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BCD24-BD97-4CD5-88D8-B8E27BF2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04 / 技术实现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4FD30-F143-45BB-9635-7D1F6E07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先核对可检验条件，再计算证据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9A48B-AC2C-4F73-B77A-81E112D8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专业规则对照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0E3A2-0586-4B2B-A46C-C5B0FEAC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47E37-8C5D-4D92-880C-E39E4FCF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304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单位 / 时间轴</a:t>
            </a:r>
          </a:p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同一质量对象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A2387-C7EC-4867-B164-A49E0220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43075"/>
            <a:ext cx="304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启停 / 温差 / 时段</a:t>
            </a:r>
          </a:p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有效工况窗口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85B6A-D4CB-4CB6-B98C-4598A08B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43075"/>
            <a:ext cx="314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支持 / 限制 / 缺口</a:t>
            </a:r>
          </a:p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补证与导出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77C58-591A-4023-A8F4-BE040CF4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228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风路条件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AA998-09D9-4A42-9DEF-F04C768E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8439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启动段之后 · 室外 / 回风温差 ≥ 3℃ · 开发参考覆盖</a:t>
            </a:r>
          </a:p>
          <a:p xmlns:a="http://schemas.openxmlformats.org/drawingml/2006/main">
            <a:pPr>
              <a:def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连续窗口与有效持续时长满足要求，才形成候选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BE766-7FBA-43D6-9FDC-27FBEC1B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28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C9A50-2AE7-4F09-BE13-FA3AE6FC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14875"/>
            <a:ext cx="84391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控制指令 ≠ 实际阀位；参考内 ≠ 已排除卡滞</a:t>
            </a:r>
          </a:p>
          <a:p xmlns:a="http://schemas.openxmlformats.org/drawingml/2006/main">
            <a:pPr>
              <a:def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盘管无合格关阀时段时不可检验，不自动判正常</a:t>
            </a:r>
          </a:p>
        </p:txBody>
      </p:sp>
    </p:spTree>
    <p:extLst>
      <p:ext uri="{BB962C8B-B14F-4D97-AF65-F5344CB8AC3E}">
        <p14:creationId xmlns:p14="http://schemas.microsoft.com/office/powerpoint/2010/main" val="884071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AB762-AD3B-4DA3-98CE-4065890D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05 / 专业基线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A5508-B9F2-40C9-840A-2A8FB753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APAR 物理留出：规则触发不等于风阀定位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0C341-AB49-47C4-BDF8-F333E197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专业规则对照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6BD04-A76D-47F7-A9A9-8130592D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238375"/>
                <a:gridCol w="2286000"/>
                <a:gridCol w="2257425"/>
              </a:tblGrid>
              <a:tr h="62484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 / 方法</a:t>
                      </a:r>
                    </a:p>
                  </a:txBody>
                  <a:tcPr marL="91440" marR="91440" marT="45720" marB="45720">
                    <a:solidFill>
                      <a:srgbClr val="173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APAR</a:t>
                      </a:r>
                    </a:p>
                  </a:txBody>
                  <a:tcPr marL="91440" marR="91440" marT="45720" marB="45720">
                    <a:solidFill>
                      <a:srgbClr val="173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APAR + 核验</a:t>
                      </a:r>
                    </a:p>
                  </a:txBody>
                  <a:tcPr marL="91440" marR="91440" marT="45720" marB="45720">
                    <a:solidFill>
                      <a:srgbClr val="173D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去核验消融</a:t>
                      </a:r>
                    </a:p>
                  </a:txBody>
                  <a:tcPr marL="91440" marR="91440" marT="45720" marB="45720">
                    <a:solidFill>
                      <a:srgbClr val="173D38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全体正确二分类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正常误报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2/4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2/4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2/4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风阀归因正确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1/2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1/2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1/2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错误风阀归因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D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DF4E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E7CE8-CCD7-47C4-B8E0-E355EB29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留出 6 日：二分类正确 4/6；风阀归因正确 1/2；加热盘管日出现 2 次错误风路归因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F5CCD-59C8-4FA2-BB8A-4A29A73E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96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96723"/>
                </a:solidFill>
                <a:latin typeface="Microsoft YaHei"/>
                <a:ea typeface="Microsoft YaHei"/>
                <a:cs typeface="Microsoft YaHei"/>
              </a:rPr>
              <a:t>结论：核验流程在该物理样本上没有显示 APAR 之上的性能增益</a:t>
            </a:r>
          </a:p>
        </p:txBody>
      </p:sp>
    </p:spTree>
    <p:extLst>
      <p:ext uri="{BB962C8B-B14F-4D97-AF65-F5344CB8AC3E}">
        <p14:creationId xmlns:p14="http://schemas.microsoft.com/office/powerpoint/2010/main" val="1240905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57310-9BFE-4889-B8B9-B2B188AE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06 / 证据分层与必要消融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47688-8B01-425A-9D43-D0CA6723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未决是结果，不是正常结论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B55D4-DB45-49E1-A6EE-F65F4FF1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专业规则对照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E182B-3FFD-42BF-9F69-C4BBE781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16215-D202-46B4-B8F2-0E8C3004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已检出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F4CD8-DCF9-4B01-9EE9-9AF65BAD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32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APAR 规则触发：可能是风阀、传感器、风路或控制序列问题</a:t>
            </a:r>
          </a:p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不把规则告警直接写成唯一设备故障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B3C68-D41E-4A97-B438-653D89A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不可检验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012F4-0B0D-4DA0-AA4C-D1D5A113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325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没有流量/设计最小新风点，规则2/18不启用；无合格稳定窗口则要求补采</a:t>
            </a:r>
          </a:p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三种方法同一结果，说明当前流程尚未创造额外证据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969FB-D0C6-4BF8-A477-3ABE9AC5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留出边界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745C6-44C4-4BEF-BCFC-A6399E4B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32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96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96723"/>
                </a:solidFill>
                <a:latin typeface="Microsoft YaHei"/>
                <a:ea typeface="Microsoft YaHei"/>
                <a:cs typeface="Microsoft YaHei"/>
              </a:rPr>
              <a:t>正常 4 日中 2 日触发 APAR 异常；加热盘管 3 日均出现错误风路归因</a:t>
            </a:r>
          </a:p>
          <a:p xmlns:a="http://schemas.openxmlformats.org/drawingml/2006/main">
            <a:pPr>
              <a:defRPr sz="1725" b="0">
                <a:solidFill>
                  <a:srgbClr val="996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96723"/>
                </a:solidFill>
                <a:latin typeface="Microsoft YaHei"/>
                <a:ea typeface="Microsoft YaHei"/>
                <a:cs typeface="Microsoft YaHei"/>
              </a:rPr>
              <a:t>可写：失败可见、补证可执行；不可写：定位准确率提升</a:t>
            </a:r>
          </a:p>
        </p:txBody>
      </p:sp>
    </p:spTree>
    <p:extLst>
      <p:ext uri="{BB962C8B-B14F-4D97-AF65-F5344CB8AC3E}">
        <p14:creationId xmlns:p14="http://schemas.microsoft.com/office/powerpoint/2010/main" val="6082756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16199-3EF1-4141-8624-168E42F1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07 / 真人价值实验包，待实施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2710D-5EEF-47A2-B55E-CFE7CFF5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真正要验证：人员能否完成更好的核查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1D360-7487-44EC-ACD1-914D20B0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专业规则对照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D2C08-87E2-41FB-BEBB-F866EB08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C379A-E141-4379-B39B-C2D476E9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A：曲线 / 表格</a:t>
            </a:r>
          </a:p>
          <a:p xmlns:a="http://schemas.openxmlformats.org/drawingml/2006/main">
            <a:pPr>
              <a:defRPr sz="247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B：核验工作台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1F877-7628-4F39-B237-4CC73B12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524250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相同数据、参考与检查清单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8 个匹配且不重复的任务</a:t>
            </a:r>
          </a:p>
          <a:p xmlns:a="http://schemas.openxmlformats.org/drawingml/2006/main">
            <a:pPr>
              <a:def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4 种交叉平衡顺序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记录时间、遗漏、错误归因</a:t>
            </a:r>
          </a:p>
          <a:p xmlns:a="http://schemas.openxmlformats.org/drawingml/2006/main">
            <a:pPr>
              <a:def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以及超时失败与人员背景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a256c3a904683"/>
          <a:srcRect xmlns:a="http://schemas.openxmlformats.org/drawingml/2006/main" l="1500" t="0" r="2000" b="1000"/>
          <a:stretch xmlns:a="http://schemas.openxmlformats.org/drawingml/2006/main"/>
        </p:blipFill>
        <p:spPr>
          <a:xfrm xmlns:a="http://schemas.openxmlformats.org/drawingml/2006/main">
            <a:off x="4371975" y="1714500"/>
            <a:ext cx="7210425" cy="41052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0E2A3-8C39-43B6-B62D-2E834D71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981700"/>
            <a:ext cx="720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96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96723"/>
                </a:solidFill>
                <a:latin typeface="Microsoft YaHei"/>
                <a:ea typeface="Microsoft YaHei"/>
                <a:cs typeface="Microsoft YaHei"/>
              </a:rPr>
              <a:t>当前：0 位真实参与者；参考答案和评分须先独立复核</a:t>
            </a:r>
          </a:p>
        </p:txBody>
      </p:sp>
    </p:spTree>
    <p:extLst>
      <p:ext uri="{BB962C8B-B14F-4D97-AF65-F5344CB8AC3E}">
        <p14:creationId xmlns:p14="http://schemas.microsoft.com/office/powerpoint/2010/main" val="2948142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3B8B0-4C9F-4741-9CEB-45EFE92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08 / 当前价值与边界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B8F2E-B974-46B7-8D61-2A41B846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已实现、已验证、待验证，分别交付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3CDC9-954B-4F9A-AA53-EA816FAB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专业规则对照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BA461-3974-4844-92D9-01296CAA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FC9E6-F666-4DEC-8F93-7E3798AE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8AD39-C986-4B87-9EF1-A62C8B60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CSV → 核查卡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6650A-9B88-4C96-87CA-301E3240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三个演示与真实重算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D853F-1116-4FF8-8EB7-A151E778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支持证据和具体补证动作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378E2-7A54-4C46-AC3B-77494CA5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4310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已验证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EABD4-D1B6-4EEC-AE37-5C3F7303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单位与时间轴：2项修复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3390A-9643-4EEA-AE80-CE194932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8620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29 项可靠性检查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FA908-A0B4-4AA1-86B1-87A22AD0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HTTP检查13项</a:t>
            </a:r>
          </a:p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邀测机制21项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AE0BB-5309-424C-B98B-DBA40E0A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待验证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F5F21-5ABE-4940-97D0-4F1B751A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参考答案独立复核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F6A29-A467-4F4B-829A-D38CE36A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真实人员任务质量与时间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97EDE-3E12-4C34-AB05-5DF95748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同类真实设备与付费意愿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DD74A1-F815-4B78-A06B-60E233A4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100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拟服务公共建筑运维的核查交接；尚无试点、节能量或收入证明</a:t>
            </a:r>
          </a:p>
        </p:txBody>
      </p:sp>
    </p:spTree>
    <p:extLst>
      <p:ext uri="{BB962C8B-B14F-4D97-AF65-F5344CB8AC3E}">
        <p14:creationId xmlns:p14="http://schemas.microsoft.com/office/powerpoint/2010/main" val="17663167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1B76F-2424-44B9-95A8-14F9EB17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09 / 可直接查看的交付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E6E6C-F524-4956-8E6B-0D36E1D1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让下一位核查人员，知道从哪里继续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3396A-7061-4F78-9AC4-A2F243B3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能智核 · 专业规则对照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DAC85-4D86-4AD5-BFF6-69D0D420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36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753BE-C770-447E-BDD0-B93046DF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D69"/>
                </a:solidFill>
                <a:latin typeface="Microsoft YaHei"/>
                <a:ea typeface="Microsoft YaHei"/>
                <a:cs typeface="Microsoft YaHei"/>
              </a:rPr>
              <a:t>评审无需安装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E9ED2-00A4-4B27-A223-68C3E92F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461962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三分钟实机演示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答辩 PDF 与三份申报材料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可阅读核查卡与真实分组结果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0f02e0747472b"/>
          <a:srcRect xmlns:a="http://schemas.openxmlformats.org/drawingml/2006/main" l="5500" t="0" r="5500" b="3000"/>
          <a:stretch xmlns:a="http://schemas.openxmlformats.org/drawingml/2006/main"/>
        </p:blipFill>
        <p:spPr>
          <a:xfrm xmlns:a="http://schemas.openxmlformats.org/drawingml/2006/main">
            <a:off x="5895975" y="1619250"/>
            <a:ext cx="5657850" cy="4010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CF678-34CF-4871-A7FD-830710AF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82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D38"/>
                </a:solidFill>
                <a:latin typeface="Microsoft YaHei"/>
                <a:ea typeface="Microsoft YaHei"/>
                <a:cs typeface="Microsoft YaHei"/>
              </a:rPr>
              <a:t>下一步：独立复核参考答案 → 真人邀测 → 再决定现场验证</a:t>
            </a:r>
          </a:p>
        </p:txBody>
      </p:sp>
    </p:spTree>
    <p:extLst>
      <p:ext uri="{BB962C8B-B14F-4D97-AF65-F5344CB8AC3E}">
        <p14:creationId xmlns:p14="http://schemas.microsoft.com/office/powerpoint/2010/main" val="2118573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2026-10-03T06:56:33.3370000Z</dcterms:created>
  <dcterms:modified xsi:type="dcterms:W3CDTF">2026-10-03T06:56:33.3370000Z</dcterms:modified>
</coreProperties>
</file>