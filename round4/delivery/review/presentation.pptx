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42b342e6934f0b" /><Relationship Type="http://schemas.openxmlformats.org/officeDocument/2006/relationships/extended-properties" Target="/docProps/app.xml" Id="Raf0c3f44ca2f442f" /><Relationship Type="http://schemas.openxmlformats.org/officeDocument/2006/relationships/officeDocument" Target="/ppt/presentation.xml" Id="R299a8991313e4f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d93e17f2cc48a8"/>
  </p:sldMasterIdLst>
  <p:notesMasterIdLst>
    <p:notesMasterId xmlns:r="http://schemas.openxmlformats.org/officeDocument/2006/relationships" r:id="R4dd84bb8b9d24095"/>
  </p:notesMasterIdLst>
  <p:sldIdLst>
    <p:sldId xmlns:r="http://schemas.openxmlformats.org/officeDocument/2006/relationships" id="256" r:id="Ra069ee7011d84220"/>
    <p:sldId xmlns:r="http://schemas.openxmlformats.org/officeDocument/2006/relationships" id="257" r:id="R87ccac04b2da4e3b"/>
    <p:sldId xmlns:r="http://schemas.openxmlformats.org/officeDocument/2006/relationships" id="258" r:id="R94c45b7914744e70"/>
    <p:sldId xmlns:r="http://schemas.openxmlformats.org/officeDocument/2006/relationships" id="259" r:id="Rc99f8b2c16374aa2"/>
    <p:sldId xmlns:r="http://schemas.openxmlformats.org/officeDocument/2006/relationships" id="260" r:id="Rb8da774f0686443d"/>
    <p:sldId xmlns:r="http://schemas.openxmlformats.org/officeDocument/2006/relationships" id="261" r:id="R75a2e1f5dce847d9"/>
    <p:sldId xmlns:r="http://schemas.openxmlformats.org/officeDocument/2006/relationships" id="262" r:id="Rcacee8db54b44ab9"/>
    <p:sldId xmlns:r="http://schemas.openxmlformats.org/officeDocument/2006/relationships" id="263" r:id="R96180fe3a0914cb4"/>
    <p:sldId xmlns:r="http://schemas.openxmlformats.org/officeDocument/2006/relationships" id="264" r:id="Ra63cc9ab2705400b"/>
    <p:sldId xmlns:r="http://schemas.openxmlformats.org/officeDocument/2006/relationships" id="265" r:id="R3a05b1734a3f49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51a3be938a4a68" /><Relationship Type="http://schemas.openxmlformats.org/officeDocument/2006/relationships/slideMaster" Target="/ppt/slideMasters/slideMaster1.xml" Id="Ra6d93e17f2cc48a8" /><Relationship Type="http://schemas.openxmlformats.org/officeDocument/2006/relationships/notesMaster" Target="/ppt/notesMasters/notesMaster1.xml" Id="R4dd84bb8b9d24095" /><Relationship Type="http://schemas.openxmlformats.org/officeDocument/2006/relationships/presProps" Target="/ppt/presProps.xml" Id="Rb5a1e69760fd4f8d" /><Relationship Type="http://schemas.openxmlformats.org/officeDocument/2006/relationships/tableStyles" Target="/ppt/tableStyles.xml" Id="R39896f07caca4666" /><Relationship Type="http://schemas.openxmlformats.org/officeDocument/2006/relationships/slide" Target="/ppt/slides/slide1.xml" Id="Ra069ee7011d84220" /><Relationship Type="http://schemas.openxmlformats.org/officeDocument/2006/relationships/slide" Target="/ppt/slides/slide2.xml" Id="R87ccac04b2da4e3b" /><Relationship Type="http://schemas.openxmlformats.org/officeDocument/2006/relationships/slide" Target="/ppt/slides/slide3.xml" Id="R94c45b7914744e70" /><Relationship Type="http://schemas.openxmlformats.org/officeDocument/2006/relationships/slide" Target="/ppt/slides/slide4.xml" Id="Rc99f8b2c16374aa2" /><Relationship Type="http://schemas.openxmlformats.org/officeDocument/2006/relationships/slide" Target="/ppt/slides/slide5.xml" Id="Rb8da774f0686443d" /><Relationship Type="http://schemas.openxmlformats.org/officeDocument/2006/relationships/slide" Target="/ppt/slides/slide6.xml" Id="R75a2e1f5dce847d9" /><Relationship Type="http://schemas.openxmlformats.org/officeDocument/2006/relationships/slide" Target="/ppt/slides/slide7.xml" Id="Rcacee8db54b44ab9" /><Relationship Type="http://schemas.openxmlformats.org/officeDocument/2006/relationships/slide" Target="/ppt/slides/slide8.xml" Id="R96180fe3a0914cb4" /><Relationship Type="http://schemas.openxmlformats.org/officeDocument/2006/relationships/slide" Target="/ppt/slides/slide9.xml" Id="Ra63cc9ab2705400b" /><Relationship Type="http://schemas.openxmlformats.org/officeDocument/2006/relationships/slide" Target="/ppt/slides/slide10.xml" Id="R3a05b1734a3f49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d9724d36c43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04a1e6ee944ca" /><Relationship Type="http://schemas.openxmlformats.org/officeDocument/2006/relationships/notesMaster" Target="/ppt/notesMasters/notesMaster1.xml" Id="Rbccde449be1b40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fdd9774fb54220" /><Relationship Type="http://schemas.openxmlformats.org/officeDocument/2006/relationships/notesMaster" Target="/ppt/notesMasters/notesMaster1.xml" Id="Rfe72fe8bd3b7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19ebbc6a54319" /><Relationship Type="http://schemas.openxmlformats.org/officeDocument/2006/relationships/notesMaster" Target="/ppt/notesMasters/notesMaster1.xml" Id="R64ce3c47f42a4a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031181752c4f8c" /><Relationship Type="http://schemas.openxmlformats.org/officeDocument/2006/relationships/notesMaster" Target="/ppt/notesMasters/notesMaster1.xml" Id="Refe7e43dc16242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f739bc1f79412e" /><Relationship Type="http://schemas.openxmlformats.org/officeDocument/2006/relationships/notesMaster" Target="/ppt/notesMasters/notesMaster1.xml" Id="R68554d112d754f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fa84e68908406b" /><Relationship Type="http://schemas.openxmlformats.org/officeDocument/2006/relationships/notesMaster" Target="/ppt/notesMasters/notesMaster1.xml" Id="R7387e62bae84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27a3bb82144004" /><Relationship Type="http://schemas.openxmlformats.org/officeDocument/2006/relationships/notesMaster" Target="/ppt/notesMasters/notesMaster1.xml" Id="Rcee0a9e86ec24b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97cb7047004b4a" /><Relationship Type="http://schemas.openxmlformats.org/officeDocument/2006/relationships/notesMaster" Target="/ppt/notesMasters/notesMaster1.xml" Id="Rd3c7a4e20a7e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2f72b366934f64" /><Relationship Type="http://schemas.openxmlformats.org/officeDocument/2006/relationships/notesMaster" Target="/ppt/notesMasters/notesMaster1.xml" Id="Re16295e105554c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e3ba5d6788439e" /><Relationship Type="http://schemas.openxmlformats.org/officeDocument/2006/relationships/notesMaster" Target="/ppt/notesMasters/notesMaster1.xml" Id="Ra7e1f4aced304e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本作品聚焦告警之后的一项实际任务：核对风阀疑点并交接下一步动作。当前是公开数据原型，没有真实部署或人工提效结论。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依据：round4/server.py、importer.py、quality.py、diagnostics.py、reporter.py。对象为公共建筑运维人员及能源服务团队，需求价值仍须真人验证。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实机图：output/ui/csv_mapping.png。原始片段2018-04-10，1440行31列。17允许点位；错误间隔拒绝；完整1分钟桶聚合为5分钟。该日期是开发演示，不是新性能样本。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实机图：output/ui/dual_dimensions.png。12条完全重复记录被删除后，数据质量通过，风阀候选仍存在。server与reporter共同使用规范化质量对象；followup同步UI和卡片的补证顺序。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依据：diagnostics.py与quality.py冻结源码；LBNL SDAHU官方说明2022：https://fdddata.lbl.gov/data/Simulated_LBNL_FDD_Data_Sets_SDAHU/LBNL_FDD_Data_Sets_SDAHU.pdf。OA_DMPR_DM为控制指令，实际位置字段不作诊断输入。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来源：output/comparison/summary.json与base_case_results.csv。14日期，2连续日期块，1仿真系统。12/56是候选与源标签一致数，不是通用风阀准确率估计。旧112已用于开发/失败分析。025/075按官方文档表示卡滞开度。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冻结清单output/comparison_frozen.json先于本次比较；三方法共用历史输入、质量与运行工况约束。固定阈值是自建工程基线，不是专业行业产品。消融仅去连续窗口约束，非新增算法。所有记录已经用于调试；没有新留出结果。软件计算工作范围不同，不比较毫秒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tudy/private/protocol.json、rubric.json、answer_key_draft.json、task_manifest.json。计划5–10人，实际0人。8任务来自2开发日期×4设置，匹配但不重复；4顺序交叉平衡。参考答案独立复核和难度匹配检查尚未完成，软件演练不算真人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软件检查：output/reliability_tests.json 29项、standalone_tests.json 13项、study_software_checks.json 21项。软件检查通过不证明实际使用提效。商业模式为待检验的同类设备本地工具与接入服务假设，没有试点、合作、收入。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评审入口delivery/review/index.html；三分钟视频video/final；10页答辩PPTX/PDF；3份官方结构DOCX及PDF；study README与主持人独立复核包。下一步为参考答案独立复核与真实人员招募，不以更多回归次数替代价值证据。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46a8b3e6448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df42468b54648" /><Relationship Type="http://schemas.openxmlformats.org/officeDocument/2006/relationships/slideLayout" Target="/ppt/slideLayouts/slideLayout1.xml" Id="Rcf1cc7ad01cf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1cc7ad01cf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54a5a561840d8" /><Relationship Type="http://schemas.openxmlformats.org/officeDocument/2006/relationships/notesSlide" Target="/ppt/notesSlides/notesSlide1.xml" Id="Raf6ea3ecc0fb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2584593f41b7" /><Relationship Type="http://schemas.openxmlformats.org/officeDocument/2006/relationships/notesSlide" Target="/ppt/notesSlides/notesSlide2.xml" Id="R20149bce023048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c0771cbc64bab" /><Relationship Type="http://schemas.openxmlformats.org/officeDocument/2006/relationships/image" Target="/ppt/media/image.png" Id="R31f25e8610bb4fd4" /><Relationship Type="http://schemas.openxmlformats.org/officeDocument/2006/relationships/notesSlide" Target="/ppt/notesSlides/notesSlide3.xml" Id="R0f74b7909e58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49778615449d" /><Relationship Type="http://schemas.openxmlformats.org/officeDocument/2006/relationships/image" Target="/ppt/media/image2.png" Id="R9a8fe9af280943c1" /><Relationship Type="http://schemas.openxmlformats.org/officeDocument/2006/relationships/notesSlide" Target="/ppt/notesSlides/notesSlide4.xml" Id="Rabdd2001854342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92523650f46f1" /><Relationship Type="http://schemas.openxmlformats.org/officeDocument/2006/relationships/notesSlide" Target="/ppt/notesSlides/notesSlide5.xml" Id="Rd41c7436bcb646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2653266740d9" /><Relationship Type="http://schemas.openxmlformats.org/officeDocument/2006/relationships/notesSlide" Target="/ppt/notesSlides/notesSlide6.xml" Id="R5a49e0d61d1240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b05114aa48a9" /><Relationship Type="http://schemas.openxmlformats.org/officeDocument/2006/relationships/notesSlide" Target="/ppt/notesSlides/notesSlide7.xml" Id="R4409ecaf07d544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8ea64dcc64958" /><Relationship Type="http://schemas.openxmlformats.org/officeDocument/2006/relationships/image" Target="/ppt/media/image3.png" Id="Rfe089b06db1e41bf" /><Relationship Type="http://schemas.openxmlformats.org/officeDocument/2006/relationships/notesSlide" Target="/ppt/notesSlides/notesSlide8.xml" Id="R37535bce27394b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85dfeabbe4bf5" /><Relationship Type="http://schemas.openxmlformats.org/officeDocument/2006/relationships/notesSlide" Target="/ppt/notesSlides/notesSlide9.xml" Id="R27055838b14040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ea2c871644961" /><Relationship Type="http://schemas.openxmlformats.org/officeDocument/2006/relationships/image" Target="/ppt/media/image4.png" Id="Rd6c33247a5974c20" /><Relationship Type="http://schemas.openxmlformats.org/officeDocument/2006/relationships/notesSlide" Target="/ppt/notesSlides/notesSlide10.xml" Id="R7c1d8a3a8035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6886-E347-473A-AC3C-AC96D61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能智核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65561-7ED7-41C4-A703-D8130688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rPr>
              <a:t>公共建筑风阀疑点核验</a:t>
            </a:r>
          </a:p>
          <a:p xmlns:a="http://schemas.openxmlformats.org/drawingml/2006/main">
            <a:pPr>
              <a:def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rPr>
              <a:t>与补证工作台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A902C-8A18-49C1-92B9-21AD83B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7E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D7E7BF"/>
                </a:solidFill>
                <a:latin typeface="Microsoft YaHei"/>
                <a:ea typeface="Microsoft YaHei"/>
                <a:cs typeface="Microsoft YaHei"/>
              </a:rPr>
              <a:t>告警之后，先查什么？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84539-EF1B-434E-9B01-6D22265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E2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5E2DD"/>
                </a:solidFill>
                <a:latin typeface="Microsoft YaHei"/>
                <a:ea typeface="Microsoft YaHei"/>
                <a:cs typeface="Microsoft YaHei"/>
              </a:rPr>
              <a:t>智慧能源与环境 · 公开数据原型</a:t>
            </a:r>
          </a:p>
        </p:txBody>
      </p:sp>
    </p:spTree>
    <p:extLst>
      <p:ext uri="{BB962C8B-B14F-4D97-AF65-F5344CB8AC3E}">
        <p14:creationId xmlns:p14="http://schemas.microsoft.com/office/powerpoint/2010/main" val="73522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9FA1E-3917-4A5A-B174-B58DEAEE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01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642D2-D638-4A8D-BF60-EEDF602B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把一条告警，变成一次有依据的核查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6E77B-EADB-4415-92CA-AC939D20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29774-136C-48CA-A6C8-8EE8350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65B63-99E7-4EE4-A8E1-B877F25F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使用者需要回答三个问题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20EBC-823B-456E-AC0C-D798BD01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01  数据可信吗？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713B9-1E5F-4B21-80EE-D4EBF4D2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02  当前能检验吗？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29E22-F159-47B4-A4DD-9EF9FBB4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03  接下来补什么？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CA961-B288-4BBF-AE63-FC55779D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35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核对单位与真实时间间隔</a:t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保留重复、缺失和冲突证据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01748-628B-4EE4-B1F3-40B9B7F0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35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查看启停、温差和连续窗口</a:t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工况不足时保留未决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030F3-66F2-4149-893F-C631ED0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35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写明点位、时段和现场动作</a:t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让下一位人员能接着核查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763A-785E-4E9B-AD4D-40142EF4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一份运行 CSV → 一张可阅读、可追溯的核查卡</a:t>
            </a:r>
          </a:p>
        </p:txBody>
      </p:sp>
    </p:spTree>
    <p:extLst>
      <p:ext uri="{BB962C8B-B14F-4D97-AF65-F5344CB8AC3E}">
        <p14:creationId xmlns:p14="http://schemas.microsoft.com/office/powerpoint/2010/main" val="2056309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0D5E8-A6E8-48E2-94AD-F3DDAA5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02 / 导入与映射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931D9-DAA0-4C01-9A04-A4FCA6C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从公开原始 CSV 开始，完成真实操作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982B3-C752-485D-A505-88B2E1C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354C0-D385-48B5-87CD-BDA62686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E0F11-9E1A-4CC5-B57F-7821C05E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1440 → 288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6A4A0-57BF-4EC3-8DF8-E91C1EB2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原始观测 → 五分钟记录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E0E54-CF4F-473C-B1BD-1E85F99A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1908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确认字段、单位、时间间隔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错误声明明确拒绝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缺失保留，不补零或插值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25e8610bb4fd4"/>
          <a:srcRect xmlns:a="http://schemas.openxmlformats.org/drawingml/2006/main" l="18500" t="37800" r="2500" b="1200"/>
          <a:stretch xmlns:a="http://schemas.openxmlformats.org/drawingml/2006/main"/>
        </p:blipFill>
        <p:spPr>
          <a:xfrm xmlns:a="http://schemas.openxmlformats.org/drawingml/2006/main">
            <a:off x="4124325" y="1543050"/>
            <a:ext cx="7477125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149B8-4F2A-4456-ACA2-EAF984E9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81700"/>
            <a:ext cx="7362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接入仅限已验证的 LBNL 单风道机组仿真配置</a:t>
            </a:r>
          </a:p>
        </p:txBody>
      </p:sp>
    </p:spTree>
    <p:extLst>
      <p:ext uri="{BB962C8B-B14F-4D97-AF65-F5344CB8AC3E}">
        <p14:creationId xmlns:p14="http://schemas.microsoft.com/office/powerpoint/2010/main" val="108826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803F4-AB99-41D1-BFE2-941B0F97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03 / 两个独立维度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8FBC2-723E-4617-8233-2FF782A2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数据修好了，设备疑点仍需继续核查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443ED-EE9D-436F-B0EC-A07FBD8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92FB-3F5A-4BE1-8660-1173B633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80B0D-5DB4-49A3-A215-E94B4774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300 → 288 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BA96C-D69F-4800-828E-A817F0F8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去掉 12 条完全重复记录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A7809-1770-4BF4-9281-4D7C71F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42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数据质量：记录检查通过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设备判断：风阀疑点保留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补证动作：测点与执行器复核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fe9af280943c1"/>
          <a:srcRect xmlns:a="http://schemas.openxmlformats.org/drawingml/2006/main" l="18300" t="33300" r="3500" b="7200"/>
          <a:stretch xmlns:a="http://schemas.openxmlformats.org/drawingml/2006/main"/>
        </p:blipFill>
        <p:spPr>
          <a:xfrm xmlns:a="http://schemas.openxmlformats.org/drawingml/2006/main">
            <a:off x="4248150" y="1590675"/>
            <a:ext cx="7324725" cy="4171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FB15B-CA1B-4731-9856-BB9CED38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981700"/>
            <a:ext cx="731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修正、修改证据后真实重算；移除风路证据会退回未决</a:t>
            </a:r>
          </a:p>
        </p:txBody>
      </p:sp>
    </p:spTree>
    <p:extLst>
      <p:ext uri="{BB962C8B-B14F-4D97-AF65-F5344CB8AC3E}">
        <p14:creationId xmlns:p14="http://schemas.microsoft.com/office/powerpoint/2010/main" val="17250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CFE94-EA75-4FFB-8F98-7921262C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04 / 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D37E6-074A-48B9-BBEE-8C40E04C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先核对可检验条件，再计算证据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B7A88-F3C5-4C72-8011-659A561C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B4F55-C591-4650-BCFE-611DDE0A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0F7BE-25B8-467D-B590-D257C01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04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单位 / 时间轴</a:t>
            </a:r>
          </a:p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同一质量对象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59EF2-12C7-4610-B910-F35ECECD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304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启停 / 温差 / 时段</a:t>
            </a:r>
          </a:p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有效工况窗口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85246-140E-4FE4-9022-1AD79B62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43075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支持 / 限制 / 缺口</a:t>
            </a:r>
          </a:p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补证与导出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6970A-D476-406F-A93B-A69775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风路条件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DBBE0-54A8-481C-AB6C-9C14AB26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8439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启动段之后 · 室外 / 回风温差 ≥ 3℃ · 开发参考覆盖</a:t>
            </a:r>
          </a:p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连续窗口与有效持续时长满足要求，才形成候选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344C9-6E68-4375-84F6-A0FFA54A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2F968-8EC9-42F2-9CA9-A96AFB2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14875"/>
            <a:ext cx="8439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控制指令 ≠ 实际阀位；参考内 ≠ 已排除卡滞</a:t>
            </a:r>
          </a:p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盘管无合格关阀时段时不可检验，不自动判正常</a:t>
            </a:r>
          </a:p>
        </p:txBody>
      </p:sp>
    </p:spTree>
    <p:extLst>
      <p:ext uri="{BB962C8B-B14F-4D97-AF65-F5344CB8AC3E}">
        <p14:creationId xmlns:p14="http://schemas.microsoft.com/office/powerpoint/2010/main" val="1237286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A8DA7-7D92-4E9D-ACEF-8B1DF793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05 / 历史回归，保留全部对照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C1A41-A392-4185-991C-647B34B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56 个基础日工况，12 个一致风阀候选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743D5-BADD-4A09-988B-142F148C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B7B8-07A3-4629-BECC-0EF5781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809750"/>
                <a:gridCol w="2238375"/>
                <a:gridCol w="2066925"/>
              </a:tblGrid>
              <a:tr h="563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源工况设置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基础数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一致候选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未决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卡滞开度 25%（025）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卡滞开度 75%（075）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盘管阀泄漏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80F21-6002-46F9-B6A8-E141DE76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14 个日期 · 2 个日期块 · 1 套仿真系统；未决始终计入分母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E5678-96F5-40CB-B5F5-BC0A6BD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卡滞开度不等同故障轻重；正常与泄漏三分类召回仍为 0</a:t>
            </a:r>
          </a:p>
        </p:txBody>
      </p:sp>
    </p:spTree>
    <p:extLst>
      <p:ext uri="{BB962C8B-B14F-4D97-AF65-F5344CB8AC3E}">
        <p14:creationId xmlns:p14="http://schemas.microsoft.com/office/powerpoint/2010/main" val="2045625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A91A4-92FF-40B7-A406-29D9440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06 / 如实保留没有差异的结果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E3D78-B549-4D48-AB6A-B88EA3FF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增加必要对照，没有观察到性能优势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5650F-C981-4742-BCB6-C4186AA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EFAF7-EA02-4D87-96A6-468FF18D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590800"/>
                <a:gridCol w="2476500"/>
              </a:tblGrid>
              <a:tr h="6834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一致候选 / 56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未决 / 56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当前工作台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 / 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固定温差阈值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56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 / 56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消融：去连续窗口约束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 / 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3F701-2862-473E-8520-F34F087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112 条配对记录：56 组原始 / 重复记录，三方法各 0 组标签变化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D7D8C-7EC0-43C8-A283-AAC1DA47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不主张算法领先、零误报或自适应提效；本轮无新留出成绩</a:t>
            </a:r>
          </a:p>
        </p:txBody>
      </p:sp>
    </p:spTree>
    <p:extLst>
      <p:ext uri="{BB962C8B-B14F-4D97-AF65-F5344CB8AC3E}">
        <p14:creationId xmlns:p14="http://schemas.microsoft.com/office/powerpoint/2010/main" val="55535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1DBE6-C8C2-43E1-9EA5-AE7AAF6D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07 / 真人价值实验包，待实施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99987-15A9-4533-AAAA-F80EBD6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真正要验证：人员能否完成更好的核查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07CB2-BC65-40B7-94DD-F32A8AFA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A02D9-C1AA-48AB-B738-DC9B751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20D9E-CC0D-4B54-B942-89F3CCE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A：曲线 / 表格</a:t>
            </a:r>
          </a:p>
          <a:p xmlns:a="http://schemas.openxmlformats.org/drawingml/2006/main">
            <a:pPr>
              <a:def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B：核验工作台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238E7-564B-46DA-8046-493440E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5242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相同数据、参考与检查清单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8 个匹配且不重复的任务</a:t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4 种交叉平衡顺序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记录时间、遗漏、错误归因</a:t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以及超时失败与人员背景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89b06db1e41bf"/>
          <a:srcRect xmlns:a="http://schemas.openxmlformats.org/drawingml/2006/main" l="1500" t="0" r="2000" b="1000"/>
          <a:stretch xmlns:a="http://schemas.openxmlformats.org/drawingml/2006/main"/>
        </p:blipFill>
        <p:spPr>
          <a:xfrm xmlns:a="http://schemas.openxmlformats.org/drawingml/2006/main">
            <a:off x="4371975" y="1714500"/>
            <a:ext cx="7210425" cy="4105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F8BF7-4762-41AD-9CBF-A3AEFC7C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981700"/>
            <a:ext cx="720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当前：0 位真实参与者；参考答案和评分须先独立复核</a:t>
            </a:r>
          </a:p>
        </p:txBody>
      </p:sp>
    </p:spTree>
    <p:extLst>
      <p:ext uri="{BB962C8B-B14F-4D97-AF65-F5344CB8AC3E}">
        <p14:creationId xmlns:p14="http://schemas.microsoft.com/office/powerpoint/2010/main" val="1974290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BB2E0-7FD4-4FE9-9CDA-DCFE84F4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08 / 当前价值与边界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9A6E8-E1DB-4A9B-946C-D7E3B915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已实现、已验证、待验证，分别交付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DA14A-64FE-4EBD-8D21-BFB0176B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2F5E7-C7FC-4C10-99A0-8A4DA4C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2A2F0-3318-4653-B667-F2A678C9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8CE20-26BF-4A90-B651-7846068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CSV → 核查卡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D01D0-DF36-4B91-9FB0-20AA8DCF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三个演示与真实重算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5351F-CEAF-4245-946F-8EA1AD7A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支持证据和具体补证动作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46AE3-3ECE-4DBA-A273-A130C1C3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BB26E-AB83-404C-9EA4-C1AC81B7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单位与时间轴：2项修复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C0397-3537-461A-8BE8-E413F69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29 项可靠性检查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EC847-8068-40E9-A65C-F24203B7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HTTP检查13项</a:t>
            </a:r>
          </a:p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邀测机制21项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175F1-9156-41F3-A4B4-494BF165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02858-A3DD-43C1-B587-F5FCF6A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参考答案独立复核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9F3C6-42F6-496D-95DB-F79F17F8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真实人员任务质量与时间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19235-3273-45F2-B4DB-5916898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同类真实设备与付费意愿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36B52-17D3-4141-99A0-92E40B6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拟服务公共建筑运维的核查交接；尚无试点、节能量或收入证明</a:t>
            </a:r>
          </a:p>
        </p:txBody>
      </p:sp>
    </p:spTree>
    <p:extLst>
      <p:ext uri="{BB962C8B-B14F-4D97-AF65-F5344CB8AC3E}">
        <p14:creationId xmlns:p14="http://schemas.microsoft.com/office/powerpoint/2010/main" val="119458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81309-1F1F-4866-B9CC-711A5C74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09 / 可直接查看的交付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8E6BE-256E-49D6-83CA-5F78F47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让下一位核查人员，知道从哪里继续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2B838-E68B-485A-9F2F-DAAAC58D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智慧能源与环境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5C78F-9F30-49E9-B757-D00949D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87CBD-C1B8-44C1-BEAD-5FA95F7D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评审无需安装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20EA1-6CE8-42F1-B199-9FBF035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46196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三分钟实机演示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答辩 PDF 与三份申报材料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可阅读核查卡与真实分组结果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33247a5974c20"/>
          <a:srcRect xmlns:a="http://schemas.openxmlformats.org/drawingml/2006/main" l="5500" t="0" r="5500" b="3000"/>
          <a:stretch xmlns:a="http://schemas.openxmlformats.org/drawingml/2006/main"/>
        </p:blipFill>
        <p:spPr>
          <a:xfrm xmlns:a="http://schemas.openxmlformats.org/drawingml/2006/main">
            <a:off x="5895975" y="1619250"/>
            <a:ext cx="5657850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A4057-4C4E-4589-B782-72CF357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82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下一步：独立复核参考答案 → 真人邀测 → 再决定现场验证</a:t>
            </a:r>
          </a:p>
        </p:txBody>
      </p:sp>
    </p:spTree>
    <p:extLst>
      <p:ext uri="{BB962C8B-B14F-4D97-AF65-F5344CB8AC3E}">
        <p14:creationId xmlns:p14="http://schemas.microsoft.com/office/powerpoint/2010/main" val="1334542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2026-10-02T05:02:42.9180000Z</dcterms:created>
  <dcterms:modified xsi:type="dcterms:W3CDTF">2026-10-02T05:02:42.9180000Z</dcterms:modified>
</coreProperties>
</file>